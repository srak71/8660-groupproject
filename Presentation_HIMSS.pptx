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90" y="3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A2160A-05FA-E3DE-843D-D910DC8E74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1799752-52FB-246C-5681-38AF03C803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56F361-0B17-5CDB-7ADF-913E737FEC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93FDDA-0125-4585-8707-1AA3D2576CF0}" type="datetimeFigureOut">
              <a:rPr lang="en-US" smtClean="0"/>
              <a:t>4/27/2025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846152-E1CF-EBAE-D948-E7AA7DBCA6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FF431B-5BE2-CA70-B760-AA7AC90A88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440F51-62B5-4DEB-AE0F-9413FA5F3D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28498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9A8485-A07C-0D2E-35CE-9709E8649E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26F8B4-1022-ACFA-62C1-43965D9B4E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8FAE82-B166-5554-B4A0-5D4EBF6EB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93FDDA-0125-4585-8707-1AA3D2576CF0}" type="datetimeFigureOut">
              <a:rPr lang="en-US" smtClean="0"/>
              <a:t>4/27/2025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A16773-4B49-649A-8C48-9CE9789DFB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EB3FDB-7769-1327-6E84-77CB65F1FF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440F51-62B5-4DEB-AE0F-9413FA5F3D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39165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B94964-2CE4-10EA-489C-AB5D0AA25F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A98FB7-2F64-2761-AB42-9849976738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00625D-99C6-3789-E7A9-BFE159528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93FDDA-0125-4585-8707-1AA3D2576CF0}" type="datetimeFigureOut">
              <a:rPr lang="en-US" smtClean="0"/>
              <a:t>4/27/2025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486463-E649-43B1-77D2-FA6C74BF3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E7A5B0-3688-3F8D-7C93-13F989ED3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440F51-62B5-4DEB-AE0F-9413FA5F3D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9864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E01F58-2DD4-7A22-3FB6-80EC0C4C95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32FC5C-B764-F14A-7467-8E21D10D46C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A57A10C-52F9-AAE8-DE7B-A823E49CA6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DADDA8-F428-29A1-576D-E90202B438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93FDDA-0125-4585-8707-1AA3D2576CF0}" type="datetimeFigureOut">
              <a:rPr lang="en-US" smtClean="0"/>
              <a:t>4/27/2025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B1021EC-9C46-E4ED-FFBC-03C6AF5ABB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D90A84-A88B-6FF3-5128-B89B29A66E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440F51-62B5-4DEB-AE0F-9413FA5F3D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64437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45699-2231-670D-3004-677991C18C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FB6E3B-A94F-CD81-58D3-84A93763AB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4F849C-74D2-729E-741A-A61F8A8E85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B6BB57-BE28-1397-1305-19C2FC7EC87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3C1EDD-9C74-00F6-2CF2-940630A1A7F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FF25973-DE65-1330-AFAB-5CC556E17D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93FDDA-0125-4585-8707-1AA3D2576CF0}" type="datetimeFigureOut">
              <a:rPr lang="en-US" smtClean="0"/>
              <a:t>4/27/2025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3F7C717-A014-284E-14CC-B78FCC2DD6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D59E876-AA7B-037D-F767-BCD3AF0D6B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440F51-62B5-4DEB-AE0F-9413FA5F3D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51420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D87BBB-7CBA-F19C-EF79-44F080BFBE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B7F5E93-EA19-EDDB-3ECA-22917D0947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93FDDA-0125-4585-8707-1AA3D2576CF0}" type="datetimeFigureOut">
              <a:rPr lang="en-US" smtClean="0"/>
              <a:t>4/27/2025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18B117E-23BE-C523-580C-CEB235B329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67A2695-BB3C-0044-3EF7-0536B02329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440F51-62B5-4DEB-AE0F-9413FA5F3D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29233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2461E98-4F00-2AAB-642B-8395AC0DCE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93FDDA-0125-4585-8707-1AA3D2576CF0}" type="datetimeFigureOut">
              <a:rPr lang="en-US" smtClean="0"/>
              <a:t>4/27/2025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D59C9A6-5F90-0490-A9EC-BC84153312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14B7EF-0322-CD11-9F5A-D109D0771F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440F51-62B5-4DEB-AE0F-9413FA5F3D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77834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E238EF-93B4-A5CF-71B7-57F5ABEEED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7638BF-92DE-B03D-5D7B-4B306D7900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AFE929-F394-6D27-3B69-DE6C3739755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298B9D-11F5-511C-87DC-396DA6E10F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93FDDA-0125-4585-8707-1AA3D2576CF0}" type="datetimeFigureOut">
              <a:rPr lang="en-US" smtClean="0"/>
              <a:t>4/27/2025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C82883A-1C39-E96C-1403-748687658C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E03A8E5-2C60-CF7A-54A7-EDE33DBF83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440F51-62B5-4DEB-AE0F-9413FA5F3D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0322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DB24EC-085D-F1C2-222D-EDDCC2BC8C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2074370-2ABF-BB83-1946-D7ABB5447DD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418946-EEDA-C529-5CEA-0076F9EFB37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0EB087-D1D7-0073-5C00-320976C53F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93FDDA-0125-4585-8707-1AA3D2576CF0}" type="datetimeFigureOut">
              <a:rPr lang="en-US" smtClean="0"/>
              <a:t>4/27/2025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F25E88-F4B2-A040-2BBC-4DD6628C70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94FDCF5-850E-BE81-F1CA-13EC948E78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440F51-62B5-4DEB-AE0F-9413FA5F3D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21318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34F92F-ECE3-0CEF-03A0-0F7A3F147F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9373CA-F8B2-9060-B35B-D10119B0199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D66218-0F9E-BCC6-0961-B43E4AEE70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93FDDA-0125-4585-8707-1AA3D2576CF0}" type="datetimeFigureOut">
              <a:rPr lang="en-US" smtClean="0"/>
              <a:t>4/27/2025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049F61-C8CF-C807-2DD8-A5ED9B36C4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AB9B5A-D7BE-19AA-CF31-AC943A3033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440F51-62B5-4DEB-AE0F-9413FA5F3D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14062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4A2DD10-42D0-EA8F-547B-191B476D6BD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CED962-12C1-ED69-9F15-04DD2E156C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25CA91-9526-229E-A2DA-B2D872EC10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93FDDA-0125-4585-8707-1AA3D2576CF0}" type="datetimeFigureOut">
              <a:rPr lang="en-US" smtClean="0"/>
              <a:t>4/27/2025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691DA3-A1F9-825C-0732-FAB20FE4B0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B91E26-C00A-E795-9EC9-68C9FE8516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440F51-62B5-4DEB-AE0F-9413FA5F3D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97260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B255475-FAD7-369F-5B98-0110BD7604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E4CFDE-62CC-21D5-AD1D-A97633B0EF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923A70-9396-FFCE-4686-CDA78C52E35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93FDDA-0125-4585-8707-1AA3D2576CF0}" type="datetimeFigureOut">
              <a:rPr lang="en-US" smtClean="0"/>
              <a:t>4/27/2025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8721F4-157A-68AA-82E1-64358754B1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960939-07B4-21FC-3551-89431C67E0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F440F51-62B5-4DEB-AE0F-9413FA5F3D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43395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mailto:saransh707@gmail.com" TargetMode="External"/><Relationship Id="rId2" Type="http://schemas.openxmlformats.org/officeDocument/2006/relationships/hyperlink" Target="mailto:nathanielphanrahan@gmail.com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694887-34B2-B4A5-5F7B-B6EDD98614B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Impact of Healthcare IT on Opioid Prescribing Patterns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96854A5-4FBB-7A26-B46A-254563534B7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By Nate Hanrahan &amp; Saransh Rakshak</a:t>
            </a:r>
          </a:p>
          <a:p>
            <a:r>
              <a:rPr lang="en-US" dirty="0"/>
              <a:t>DSA-8660 Group Project</a:t>
            </a:r>
          </a:p>
          <a:p>
            <a:r>
              <a:rPr lang="en-US" dirty="0"/>
              <a:t>Due April 27, 2025</a:t>
            </a:r>
          </a:p>
        </p:txBody>
      </p:sp>
    </p:spTree>
    <p:extLst>
      <p:ext uri="{BB962C8B-B14F-4D97-AF65-F5344CB8AC3E}">
        <p14:creationId xmlns:p14="http://schemas.microsoft.com/office/powerpoint/2010/main" val="12244326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9F5F84-290C-CF71-7A5D-21E4DE50C6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77D88F-28D2-C943-97A1-2F039D41BD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dirty="0"/>
              <a:t>Opioid Crisis: 100,000 deaths per year</a:t>
            </a:r>
          </a:p>
          <a:p>
            <a:pPr>
              <a:lnSpc>
                <a:spcPct val="150000"/>
              </a:lnSpc>
            </a:pPr>
            <a:r>
              <a:rPr lang="en-US" dirty="0"/>
              <a:t>$78 Billion annual economic burden</a:t>
            </a:r>
          </a:p>
          <a:p>
            <a:pPr>
              <a:lnSpc>
                <a:spcPct val="150000"/>
              </a:lnSpc>
            </a:pPr>
            <a:r>
              <a:rPr lang="en-US" dirty="0"/>
              <a:t>Healthcare IT investments ($30 billion+)</a:t>
            </a:r>
          </a:p>
          <a:p>
            <a:pPr>
              <a:lnSpc>
                <a:spcPct val="150000"/>
              </a:lnSpc>
            </a:pPr>
            <a:r>
              <a:rPr lang="en-US" dirty="0"/>
              <a:t>Research Question:</a:t>
            </a:r>
          </a:p>
          <a:p>
            <a:pPr lvl="1">
              <a:lnSpc>
                <a:spcPct val="150000"/>
              </a:lnSpc>
            </a:pPr>
            <a:r>
              <a:rPr lang="en-US" i="1" dirty="0"/>
              <a:t>Does healthcare IT affect opioid prescribing patterns?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82167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38F71F-34B0-5FCA-0706-8BFE2403DB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8B8709-EBB0-0F75-EA5A-2F8C7D7973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dirty="0"/>
              <a:t>2017 Healthcare Information and Management Systems Society (HIMSS)</a:t>
            </a:r>
          </a:p>
          <a:p>
            <a:pPr>
              <a:lnSpc>
                <a:spcPct val="150000"/>
              </a:lnSpc>
            </a:pPr>
            <a:r>
              <a:rPr lang="en-US" dirty="0"/>
              <a:t>2021 Center for Medicare and Medicaid Services (CMS)</a:t>
            </a:r>
          </a:p>
          <a:p>
            <a:pPr>
              <a:lnSpc>
                <a:spcPct val="150000"/>
              </a:lnSpc>
            </a:pPr>
            <a:r>
              <a:rPr lang="en-US" dirty="0"/>
              <a:t>Merged via ZIP codes</a:t>
            </a:r>
          </a:p>
          <a:p>
            <a:pPr>
              <a:lnSpc>
                <a:spcPct val="150000"/>
              </a:lnSpc>
            </a:pPr>
            <a:r>
              <a:rPr lang="en-US" dirty="0"/>
              <a:t>Cleaning: Removed incomplete records, conflicting column names.</a:t>
            </a:r>
          </a:p>
        </p:txBody>
      </p:sp>
    </p:spTree>
    <p:extLst>
      <p:ext uri="{BB962C8B-B14F-4D97-AF65-F5344CB8AC3E}">
        <p14:creationId xmlns:p14="http://schemas.microsoft.com/office/powerpoint/2010/main" val="1187859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26A4E-7A4E-595E-954F-AE0BD0E212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2DF400-8C76-AD7A-6719-183AF6D564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>
              <a:lnSpc>
                <a:spcPct val="150000"/>
              </a:lnSpc>
            </a:pPr>
            <a:r>
              <a:rPr lang="en-US" dirty="0"/>
              <a:t>OLS Regression Models: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Specialty-level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IT Infrastructure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Facility-level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Geographic-level</a:t>
            </a:r>
          </a:p>
          <a:p>
            <a:pPr>
              <a:lnSpc>
                <a:spcPct val="150000"/>
              </a:lnSpc>
            </a:pPr>
            <a:r>
              <a:rPr lang="en-US" dirty="0"/>
              <a:t>Diagnostic tests run</a:t>
            </a:r>
          </a:p>
          <a:p>
            <a:pPr>
              <a:lnSpc>
                <a:spcPct val="150000"/>
              </a:lnSpc>
            </a:pPr>
            <a:r>
              <a:rPr lang="en-US" dirty="0"/>
              <a:t>Multicollinearity partially addressed</a:t>
            </a:r>
          </a:p>
        </p:txBody>
      </p:sp>
    </p:spTree>
    <p:extLst>
      <p:ext uri="{BB962C8B-B14F-4D97-AF65-F5344CB8AC3E}">
        <p14:creationId xmlns:p14="http://schemas.microsoft.com/office/powerpoint/2010/main" val="41119584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7DA128-40DB-EEBB-B06A-0EBFE5C38C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Findings: Specialty-level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3157BF-051B-B101-66BC-A59488A3A1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dirty="0"/>
              <a:t>Specialty strongly predicts prescribing rates</a:t>
            </a:r>
          </a:p>
          <a:p>
            <a:pPr>
              <a:lnSpc>
                <a:spcPct val="150000"/>
              </a:lnSpc>
            </a:pPr>
            <a:r>
              <a:rPr lang="en-US" dirty="0"/>
              <a:t>Top high-prescribing specialties: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Hand Surgery (</a:t>
            </a:r>
            <a:r>
              <a:rPr lang="el-GR" dirty="0"/>
              <a:t>β = 0.54)</a:t>
            </a:r>
            <a:endParaRPr lang="en-US" dirty="0"/>
          </a:p>
          <a:p>
            <a:pPr lvl="1">
              <a:lnSpc>
                <a:spcPct val="150000"/>
              </a:lnSpc>
            </a:pPr>
            <a:r>
              <a:rPr lang="en-US" dirty="0"/>
              <a:t>Pain Management (</a:t>
            </a:r>
            <a:r>
              <a:rPr lang="el-GR" dirty="0"/>
              <a:t>β = 0.</a:t>
            </a:r>
            <a:r>
              <a:rPr lang="en-US" dirty="0"/>
              <a:t>46)</a:t>
            </a:r>
          </a:p>
          <a:p>
            <a:pPr>
              <a:lnSpc>
                <a:spcPct val="150000"/>
              </a:lnSpc>
            </a:pPr>
            <a:r>
              <a:rPr lang="en-US" dirty="0"/>
              <a:t>R² = 35.6%</a:t>
            </a:r>
          </a:p>
        </p:txBody>
      </p:sp>
    </p:spTree>
    <p:extLst>
      <p:ext uri="{BB962C8B-B14F-4D97-AF65-F5344CB8AC3E}">
        <p14:creationId xmlns:p14="http://schemas.microsoft.com/office/powerpoint/2010/main" val="16622908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B67B2B-F2BB-5F51-E893-59D2BCF1CB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Findings: IT Infrastructure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394A99-098E-B044-73E2-5858E1C54F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dirty="0"/>
              <a:t>No significant effect from basic IT systems</a:t>
            </a:r>
          </a:p>
          <a:p>
            <a:pPr>
              <a:lnSpc>
                <a:spcPct val="150000"/>
              </a:lnSpc>
            </a:pPr>
            <a:r>
              <a:rPr lang="en-US" dirty="0"/>
              <a:t>Multicollinearity severely detected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Suggests universal IT adoption</a:t>
            </a:r>
          </a:p>
        </p:txBody>
      </p:sp>
    </p:spTree>
    <p:extLst>
      <p:ext uri="{BB962C8B-B14F-4D97-AF65-F5344CB8AC3E}">
        <p14:creationId xmlns:p14="http://schemas.microsoft.com/office/powerpoint/2010/main" val="5475453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34F489-8EFF-9850-D3B4-630007AE6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Findings: Facility-level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B47BF7-A1C0-5CE7-C25B-9026C5F7B7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i="1" dirty="0"/>
              <a:t>For-profit</a:t>
            </a:r>
            <a:r>
              <a:rPr lang="en-US" dirty="0"/>
              <a:t> hospitals prescribe significantly more opioids than </a:t>
            </a:r>
            <a:r>
              <a:rPr lang="en-US" i="1" dirty="0"/>
              <a:t>non-profit</a:t>
            </a:r>
            <a:r>
              <a:rPr lang="en-US" dirty="0"/>
              <a:t> facilities</a:t>
            </a:r>
          </a:p>
          <a:p>
            <a:pPr>
              <a:lnSpc>
                <a:spcPct val="150000"/>
              </a:lnSpc>
            </a:pPr>
            <a:r>
              <a:rPr lang="en-US" dirty="0"/>
              <a:t>Larger hospitals tend to prescribe more</a:t>
            </a:r>
          </a:p>
          <a:p>
            <a:pPr>
              <a:lnSpc>
                <a:spcPct val="150000"/>
              </a:lnSpc>
            </a:pPr>
            <a:r>
              <a:rPr lang="en-US" dirty="0"/>
              <a:t>ICU bed counts are correlated</a:t>
            </a:r>
          </a:p>
          <a:p>
            <a:pPr marL="0" indent="0">
              <a:lnSpc>
                <a:spcPct val="150000"/>
              </a:lnSpc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73248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FEB8DA-94C0-815A-2587-47C33753F3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Recommendations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B2A721-630B-C350-E05D-1635DB2B3A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>
              <a:lnSpc>
                <a:spcPct val="150000"/>
              </a:lnSpc>
            </a:pPr>
            <a:r>
              <a:rPr lang="en-US" dirty="0"/>
              <a:t>Friction Zones: Override steps for high-dose prescriptions</a:t>
            </a:r>
          </a:p>
          <a:p>
            <a:pPr>
              <a:lnSpc>
                <a:spcPct val="150000"/>
              </a:lnSpc>
            </a:pPr>
            <a:r>
              <a:rPr lang="en-US" dirty="0"/>
              <a:t>Geographic Teams: Focus on high-prescribing regions</a:t>
            </a:r>
          </a:p>
          <a:p>
            <a:pPr>
              <a:lnSpc>
                <a:spcPct val="150000"/>
              </a:lnSpc>
            </a:pPr>
            <a:r>
              <a:rPr lang="en-US" dirty="0"/>
              <a:t>Automation Alerts: Risk warnings in pharmacy systems for abnormal or suspicious prescriptions</a:t>
            </a:r>
          </a:p>
          <a:p>
            <a:pPr>
              <a:lnSpc>
                <a:spcPct val="150000"/>
              </a:lnSpc>
            </a:pPr>
            <a:r>
              <a:rPr lang="en-US" dirty="0"/>
              <a:t>Peer Review: Especially useful for large hospitals, prevent over prescribing</a:t>
            </a:r>
          </a:p>
          <a:p>
            <a:pPr>
              <a:lnSpc>
                <a:spcPct val="150000"/>
              </a:lnSpc>
            </a:pPr>
            <a:r>
              <a:rPr lang="en-US" dirty="0"/>
              <a:t>Specialty Guidelines: Tailored Electronic Health Records (EHR) alerts based on doctor specialty</a:t>
            </a:r>
          </a:p>
        </p:txBody>
      </p:sp>
    </p:spTree>
    <p:extLst>
      <p:ext uri="{BB962C8B-B14F-4D97-AF65-F5344CB8AC3E}">
        <p14:creationId xmlns:p14="http://schemas.microsoft.com/office/powerpoint/2010/main" val="10711453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3D7E64-211C-86FB-721F-25ECB8875F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Estimated Impacts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14717A-987F-4868-215C-8EE0518391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Predicted 10% - 20% national reduction in inappropriate or excessive opioid prescribing</a:t>
            </a:r>
          </a:p>
        </p:txBody>
      </p:sp>
    </p:spTree>
    <p:extLst>
      <p:ext uri="{BB962C8B-B14F-4D97-AF65-F5344CB8AC3E}">
        <p14:creationId xmlns:p14="http://schemas.microsoft.com/office/powerpoint/2010/main" val="24352885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F30A05-B317-0281-2726-4F2943A292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05FC11-05FE-8B0B-44CD-4B87C3DFFB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Specialty shared practices and organizational factors matter more than just IT alone</a:t>
            </a:r>
          </a:p>
          <a:p>
            <a:r>
              <a:rPr lang="en-US" dirty="0"/>
              <a:t>Policy should combine IT, healthcare professional training, and facility structure</a:t>
            </a:r>
          </a:p>
        </p:txBody>
      </p:sp>
    </p:spTree>
    <p:extLst>
      <p:ext uri="{BB962C8B-B14F-4D97-AF65-F5344CB8AC3E}">
        <p14:creationId xmlns:p14="http://schemas.microsoft.com/office/powerpoint/2010/main" val="3576708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DC0B78-828A-7C8F-679A-97989DF7C2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Author Contacts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99C35A-2042-510F-1F35-2D6140767B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dirty="0"/>
              <a:t>Nate Hanrahan</a:t>
            </a:r>
          </a:p>
          <a:p>
            <a:pPr lvl="1">
              <a:lnSpc>
                <a:spcPct val="150000"/>
              </a:lnSpc>
            </a:pPr>
            <a:r>
              <a:rPr lang="en-US" dirty="0">
                <a:hlinkClick r:id="rId2"/>
              </a:rPr>
              <a:t>nathanielphanrahan@gmail.com</a:t>
            </a:r>
            <a:endParaRPr lang="en-US" dirty="0"/>
          </a:p>
          <a:p>
            <a:pPr>
              <a:lnSpc>
                <a:spcPct val="150000"/>
              </a:lnSpc>
            </a:pPr>
            <a:r>
              <a:rPr lang="en-US" dirty="0"/>
              <a:t>Saransh Rakshak</a:t>
            </a:r>
          </a:p>
          <a:p>
            <a:pPr lvl="1">
              <a:lnSpc>
                <a:spcPct val="150000"/>
              </a:lnSpc>
            </a:pPr>
            <a:r>
              <a:rPr lang="en-US">
                <a:hlinkClick r:id="rId3"/>
              </a:rPr>
              <a:t>saransh707@gmail.com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57653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295</Words>
  <Application>Microsoft Office PowerPoint</Application>
  <PresentationFormat>Widescreen</PresentationFormat>
  <Paragraphs>53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Calibri Light</vt:lpstr>
      <vt:lpstr>Office Theme</vt:lpstr>
      <vt:lpstr>Impact of Healthcare IT on Opioid Prescribing Patterns</vt:lpstr>
      <vt:lpstr>Introduction</vt:lpstr>
      <vt:lpstr>Data Sources</vt:lpstr>
      <vt:lpstr>Methodology</vt:lpstr>
      <vt:lpstr>Key Findings: Specialty-level</vt:lpstr>
      <vt:lpstr>Key Findings: IT Infrastructure</vt:lpstr>
      <vt:lpstr>Key Findings: Facility-level</vt:lpstr>
      <vt:lpstr>Recommendations</vt:lpstr>
      <vt:lpstr>Estimated Impacts</vt:lpstr>
      <vt:lpstr>Conclusion</vt:lpstr>
      <vt:lpstr>Author Contacts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Saransh Rakshak</dc:creator>
  <cp:lastModifiedBy>Saransh Rakshak</cp:lastModifiedBy>
  <cp:revision>2</cp:revision>
  <dcterms:created xsi:type="dcterms:W3CDTF">2025-04-27T22:31:38Z</dcterms:created>
  <dcterms:modified xsi:type="dcterms:W3CDTF">2025-04-28T00:38:02Z</dcterms:modified>
</cp:coreProperties>
</file>