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9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2160A-05FA-E3DE-843D-D910DC8E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99752-52FB-246C-5681-38AF03C80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6F361-0B17-5CDB-7ADF-913E737F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46152-E1CF-EBAE-D948-E7AA7DBC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F431B-5BE2-CA70-B760-AA7AC90A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4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8485-A07C-0D2E-35CE-9709E864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F8B4-1022-ACFA-62C1-43965D9B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FAE82-B166-5554-B4A0-5D4EBF6E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6773-4B49-649A-8C48-9CE9789DF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B3FDB-7769-1327-6E84-77CB65F1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1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4964-2CE4-10EA-489C-AB5D0AA2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98FB7-2F64-2761-AB42-98499767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625D-99C6-3789-E7A9-BFE15952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86463-E649-43B1-77D2-FA6C74BF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7A5B0-3688-3F8D-7C93-13F989ED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1F58-2DD4-7A22-3FB6-80EC0C4C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2FC5C-B764-F14A-7467-8E21D10D4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7A10C-52F9-AAE8-DE7B-A823E49CA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ADDA8-F428-29A1-576D-E90202B4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021EC-9C46-E4ED-FFBC-03C6AF5A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90A84-A88B-6FF3-5128-B89B29A6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4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5699-2231-670D-3004-677991C1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B6E3B-A94F-CD81-58D3-84A93763A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F849C-74D2-729E-741A-A61F8A8E8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6BB57-BE28-1397-1305-19C2FC7EC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C1EDD-9C74-00F6-2CF2-940630A1A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25973-DE65-1330-AFAB-5CC556E1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7C717-A014-284E-14CC-B78FCC2D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9E876-AA7B-037D-F767-BCD3AF0D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4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7BBB-7CBA-F19C-EF79-44F080BFB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7F5E93-EA19-EDDB-3ECA-22917D09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B117E-23BE-C523-580C-CEB235B3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A2695-BB3C-0044-3EF7-0536B023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2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61E98-4F00-2AAB-642B-8395AC0D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9C9A6-5F90-0490-A9EC-BC841533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4B7EF-0322-CD11-9F5A-D109D077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8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38EF-93B4-A5CF-71B7-57F5ABEE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638BF-92DE-B03D-5D7B-4B306D79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E929-F394-6D27-3B69-DE6C37397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98B9D-11F5-511C-87DC-396DA6E1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2883A-1C39-E96C-1403-74868765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3A8E5-2C60-CF7A-54A7-EDE33DBF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24EC-085D-F1C2-222D-EDDCC2BC8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74370-2ABF-BB83-1946-D7ABB5447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18946-EEDA-C529-5CEA-0076F9EFB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EB087-D1D7-0073-5C00-320976C5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25E88-F4B2-A040-2BBC-4DD6628C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FDCF5-850E-BE81-F1CA-13EC948E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3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F92F-ECE3-0CEF-03A0-0F7A3F14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373CA-F8B2-9060-B35B-D10119B01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6218-0F9E-BCC6-0961-B43E4AEE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49F61-C8CF-C807-2DD8-A5ED9B36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B9B5A-D7BE-19AA-CF31-AC943A30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0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2DD10-42D0-EA8F-547B-191B476D6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ED962-12C1-ED69-9F15-04DD2E156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5CA91-9526-229E-A2DA-B2D872EC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91DA3-A1F9-825C-0732-FAB20FE4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91E26-C00A-E795-9EC9-68C9FE85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2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55475-FAD7-369F-5B98-0110BD76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4CFDE-62CC-21D5-AD1D-A97633B0E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3A70-9396-FFCE-4686-CDA78C52E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3FDDA-0125-4585-8707-1AA3D2576CF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721F4-157A-68AA-82E1-64358754B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60939-07B4-21FC-3551-89431C67E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40F51-62B5-4DEB-AE0F-9413FA5F3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3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4887-34B2-B4A5-5F7B-B6EDD98614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Impact of Healthcare IT on Opioid Prescribing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854A5-4FBB-7A26-B46A-254563534B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Nate Hanrahan &amp; Saransh Rakshak</a:t>
            </a:r>
          </a:p>
          <a:p>
            <a:r>
              <a:rPr lang="en-US" dirty="0"/>
              <a:t>DSA-8660 Group Project</a:t>
            </a:r>
          </a:p>
          <a:p>
            <a:r>
              <a:rPr lang="en-US" dirty="0"/>
              <a:t>Due April 27, 2025</a:t>
            </a:r>
          </a:p>
        </p:txBody>
      </p:sp>
    </p:spTree>
    <p:extLst>
      <p:ext uri="{BB962C8B-B14F-4D97-AF65-F5344CB8AC3E}">
        <p14:creationId xmlns:p14="http://schemas.microsoft.com/office/powerpoint/2010/main" val="122443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F5F84-290C-CF71-7A5D-21E4DE50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7D88F-28D2-C943-97A1-2F039D41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Opioid Crisis: 100,000 deaths per year</a:t>
            </a:r>
          </a:p>
          <a:p>
            <a:pPr>
              <a:lnSpc>
                <a:spcPct val="150000"/>
              </a:lnSpc>
            </a:pPr>
            <a:r>
              <a:rPr lang="en-US" dirty="0"/>
              <a:t>$78 Billion annual economic burden</a:t>
            </a:r>
          </a:p>
          <a:p>
            <a:pPr>
              <a:lnSpc>
                <a:spcPct val="150000"/>
              </a:lnSpc>
            </a:pPr>
            <a:r>
              <a:rPr lang="en-US" dirty="0"/>
              <a:t>Healthcare IT investments ($30 billion+)</a:t>
            </a:r>
          </a:p>
          <a:p>
            <a:pPr>
              <a:lnSpc>
                <a:spcPct val="150000"/>
              </a:lnSpc>
            </a:pPr>
            <a:r>
              <a:rPr lang="en-US" dirty="0"/>
              <a:t>Research Question: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Does healthcare IT affect opioid prescribing patterns?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21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F71F-34B0-5FCA-0706-8BFE2403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B8709-EBB0-0F75-EA5A-2F8C7D79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2017 Healthcare Information and Management Systems Society (HIMSS)</a:t>
            </a:r>
          </a:p>
          <a:p>
            <a:pPr>
              <a:lnSpc>
                <a:spcPct val="150000"/>
              </a:lnSpc>
            </a:pPr>
            <a:r>
              <a:rPr lang="en-US" dirty="0"/>
              <a:t>2021 Center for Medicare and Medicaid Services (CMS)</a:t>
            </a:r>
          </a:p>
          <a:p>
            <a:pPr>
              <a:lnSpc>
                <a:spcPct val="150000"/>
              </a:lnSpc>
            </a:pPr>
            <a:r>
              <a:rPr lang="en-US" dirty="0"/>
              <a:t>Merged via ZIP codes</a:t>
            </a:r>
          </a:p>
          <a:p>
            <a:pPr>
              <a:lnSpc>
                <a:spcPct val="150000"/>
              </a:lnSpc>
            </a:pPr>
            <a:r>
              <a:rPr lang="en-US" dirty="0"/>
              <a:t>Cleaning: Removed incomplete records, conflicting column names.</a:t>
            </a:r>
          </a:p>
        </p:txBody>
      </p:sp>
    </p:spTree>
    <p:extLst>
      <p:ext uri="{BB962C8B-B14F-4D97-AF65-F5344CB8AC3E}">
        <p14:creationId xmlns:p14="http://schemas.microsoft.com/office/powerpoint/2010/main" val="11878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6A4E-7A4E-595E-954F-AE0BD0E2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DF400-8C76-AD7A-6719-183AF6D5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OLS Regression Models: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Specialty-level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Infrastructure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Facility-level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Geographic-level</a:t>
            </a:r>
          </a:p>
          <a:p>
            <a:pPr>
              <a:lnSpc>
                <a:spcPct val="150000"/>
              </a:lnSpc>
            </a:pPr>
            <a:r>
              <a:rPr lang="en-US" dirty="0"/>
              <a:t>Diagnostic tests run</a:t>
            </a:r>
          </a:p>
          <a:p>
            <a:pPr>
              <a:lnSpc>
                <a:spcPct val="150000"/>
              </a:lnSpc>
            </a:pPr>
            <a:r>
              <a:rPr lang="en-US" dirty="0"/>
              <a:t>Multicollinearity partially addressed</a:t>
            </a:r>
          </a:p>
        </p:txBody>
      </p:sp>
    </p:spTree>
    <p:extLst>
      <p:ext uri="{BB962C8B-B14F-4D97-AF65-F5344CB8AC3E}">
        <p14:creationId xmlns:p14="http://schemas.microsoft.com/office/powerpoint/2010/main" val="411195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A128-40DB-EEBB-B06A-0EBFE5C3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Findings: Specialty-level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57BF-051B-B101-66BC-A59488A3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Specialty strongly predicts prescribing rates</a:t>
            </a:r>
          </a:p>
          <a:p>
            <a:pPr>
              <a:lnSpc>
                <a:spcPct val="150000"/>
              </a:lnSpc>
            </a:pPr>
            <a:r>
              <a:rPr lang="en-US" dirty="0"/>
              <a:t>Top high-prescribing specialties: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Hand Surgery (</a:t>
            </a:r>
            <a:r>
              <a:rPr lang="el-GR" dirty="0"/>
              <a:t>β = 0.54)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Pain Management (</a:t>
            </a:r>
            <a:r>
              <a:rPr lang="el-GR" dirty="0"/>
              <a:t>β = 0.</a:t>
            </a:r>
            <a:r>
              <a:rPr lang="en-US" dirty="0"/>
              <a:t>46)</a:t>
            </a:r>
          </a:p>
          <a:p>
            <a:pPr>
              <a:lnSpc>
                <a:spcPct val="150000"/>
              </a:lnSpc>
            </a:pPr>
            <a:r>
              <a:rPr lang="en-US" dirty="0"/>
              <a:t>R² = 35.6%</a:t>
            </a:r>
          </a:p>
        </p:txBody>
      </p:sp>
    </p:spTree>
    <p:extLst>
      <p:ext uri="{BB962C8B-B14F-4D97-AF65-F5344CB8AC3E}">
        <p14:creationId xmlns:p14="http://schemas.microsoft.com/office/powerpoint/2010/main" val="166229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7B2B-F2BB-5F51-E893-59D2BCF1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Findings: IT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4A99-098E-B044-73E2-5858E1C54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No significant effect from basic IT systems</a:t>
            </a:r>
          </a:p>
          <a:p>
            <a:pPr>
              <a:lnSpc>
                <a:spcPct val="150000"/>
              </a:lnSpc>
            </a:pPr>
            <a:r>
              <a:rPr lang="en-US" dirty="0"/>
              <a:t>Multicollinearity severely detected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Suggests universal IT adoption</a:t>
            </a:r>
          </a:p>
        </p:txBody>
      </p:sp>
    </p:spTree>
    <p:extLst>
      <p:ext uri="{BB962C8B-B14F-4D97-AF65-F5344CB8AC3E}">
        <p14:creationId xmlns:p14="http://schemas.microsoft.com/office/powerpoint/2010/main" val="54754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F489-8EFF-9850-D3B4-630007AE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Findings: Facility-level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7BF7-A1C0-5CE7-C25B-9026C5F7B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i="1" dirty="0"/>
              <a:t>For-profit</a:t>
            </a:r>
            <a:r>
              <a:rPr lang="en-US" dirty="0"/>
              <a:t> hospitals prescribe significantly more opioids than </a:t>
            </a:r>
            <a:r>
              <a:rPr lang="en-US" i="1" dirty="0"/>
              <a:t>non-profit</a:t>
            </a:r>
            <a:r>
              <a:rPr lang="en-US" dirty="0"/>
              <a:t> facilities</a:t>
            </a:r>
          </a:p>
          <a:p>
            <a:pPr>
              <a:lnSpc>
                <a:spcPct val="150000"/>
              </a:lnSpc>
            </a:pPr>
            <a:r>
              <a:rPr lang="en-US" dirty="0"/>
              <a:t>Larger hospitals tend to prescribe more</a:t>
            </a:r>
          </a:p>
          <a:p>
            <a:pPr>
              <a:lnSpc>
                <a:spcPct val="150000"/>
              </a:lnSpc>
            </a:pPr>
            <a:r>
              <a:rPr lang="en-US" dirty="0"/>
              <a:t>ICU bed counts are correlated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32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8DA-94C0-815A-2587-47C33753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2A721-630B-C350-E05D-1635DB2B3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Friction Zones: Override steps for high-dose prescriptions</a:t>
            </a:r>
          </a:p>
          <a:p>
            <a:pPr>
              <a:lnSpc>
                <a:spcPct val="150000"/>
              </a:lnSpc>
            </a:pPr>
            <a:r>
              <a:rPr lang="en-US" dirty="0"/>
              <a:t>Geographic Teams: Focus on high-prescribing regions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Automation Alerts: Risk warnings in pharmacy systems for abnormal or suspicious prescriptions</a:t>
            </a:r>
          </a:p>
          <a:p>
            <a:pPr>
              <a:lnSpc>
                <a:spcPct val="150000"/>
              </a:lnSpc>
            </a:pPr>
            <a:r>
              <a:rPr lang="en-US" dirty="0"/>
              <a:t>Peer Review: Especially useful for large hospitals, prevent over prescribing</a:t>
            </a:r>
          </a:p>
          <a:p>
            <a:pPr>
              <a:lnSpc>
                <a:spcPct val="150000"/>
              </a:lnSpc>
            </a:pPr>
            <a:r>
              <a:rPr lang="en-US" dirty="0"/>
              <a:t>Specialty Guidelines: Tailored Electronic Health Records (EHR) alerts based on doctor specialty</a:t>
            </a:r>
          </a:p>
        </p:txBody>
      </p:sp>
    </p:spTree>
    <p:extLst>
      <p:ext uri="{BB962C8B-B14F-4D97-AF65-F5344CB8AC3E}">
        <p14:creationId xmlns:p14="http://schemas.microsoft.com/office/powerpoint/2010/main" val="107114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7E64-211C-86FB-721F-25ECB887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717A-987F-4868-215C-8EE05183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Predicted 10% - 20% national reduction in inappropriate or excessive opioid prescribing</a:t>
            </a:r>
          </a:p>
        </p:txBody>
      </p:sp>
    </p:spTree>
    <p:extLst>
      <p:ext uri="{BB962C8B-B14F-4D97-AF65-F5344CB8AC3E}">
        <p14:creationId xmlns:p14="http://schemas.microsoft.com/office/powerpoint/2010/main" val="2435288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0A05-B317-0281-2726-4F2943A2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5FC11-05FE-8B0B-44CD-4B87C3DFF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Specialty shared practices and organizational factors matter more than just IT alone</a:t>
            </a:r>
          </a:p>
          <a:p>
            <a:r>
              <a:rPr lang="en-US" dirty="0"/>
              <a:t>Policy should combine IT, healthcare professional training, and facility structure</a:t>
            </a:r>
          </a:p>
        </p:txBody>
      </p:sp>
    </p:spTree>
    <p:extLst>
      <p:ext uri="{BB962C8B-B14F-4D97-AF65-F5344CB8AC3E}">
        <p14:creationId xmlns:p14="http://schemas.microsoft.com/office/powerpoint/2010/main" val="357670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278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Impact of Healthcare IT on Opioid Prescribing Patterns</vt:lpstr>
      <vt:lpstr>Introduction</vt:lpstr>
      <vt:lpstr>Data Sources</vt:lpstr>
      <vt:lpstr>Methodology</vt:lpstr>
      <vt:lpstr>Key Findings: Specialty-level</vt:lpstr>
      <vt:lpstr>Key Findings: IT Infrastructure</vt:lpstr>
      <vt:lpstr>Key Findings: Facility-level</vt:lpstr>
      <vt:lpstr>Recommendations</vt:lpstr>
      <vt:lpstr>Estimated Impacts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Saransh Rakshak</dc:creator>
  <cp:lastModifiedBy>Saransh Rakshak</cp:lastModifiedBy>
  <cp:revision>1</cp:revision>
  <dcterms:created xsi:type="dcterms:W3CDTF">2025-04-27T22:31:38Z</dcterms:created>
  <dcterms:modified xsi:type="dcterms:W3CDTF">2025-04-27T22:52:11Z</dcterms:modified>
</cp:coreProperties>
</file>